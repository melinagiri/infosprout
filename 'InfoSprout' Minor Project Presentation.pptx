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Noto Sans Symbols"/>
      <p:regular r:id="rId24"/>
      <p:bold r:id="rId25"/>
    </p:embeddedFont>
    <p:embeddedFont>
      <p:font typeface="Century Gothic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Nabina Budha"/>
  <p:cmAuthor clrIdx="1" id="1" initials="" lastIdx="2" name="Melina Gir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NotoSansSymbols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CenturyGothic-regular.fntdata"/><Relationship Id="rId25" Type="http://schemas.openxmlformats.org/officeDocument/2006/relationships/font" Target="fonts/NotoSansSymbols-bold.fntdata"/><Relationship Id="rId28" Type="http://schemas.openxmlformats.org/officeDocument/2006/relationships/font" Target="fonts/CenturyGothic-italic.fntdata"/><Relationship Id="rId27" Type="http://schemas.openxmlformats.org/officeDocument/2006/relationships/font" Target="fonts/CenturyGothic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CenturyGothic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2-07-03T08:59:05.317">
    <p:pos x="6000" y="0"/>
    <p:text>Make payment</p:text>
  </p:cm>
  <p:cm authorId="1" idx="1" dt="2022-07-04T10:10:25.162">
    <p:pos x="674" y="31"/>
    <p:text>add accountant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2-07-03T15:59:53.555">
    <p:pos x="6000" y="0"/>
    <p:text>Resources</p:text>
  </p:cm>
  <p:cm authorId="0" idx="3" dt="2022-07-03T09:02:48.334">
    <p:pos x="6000" y="0"/>
    <p:text>Er duagram</p:text>
  </p:cm>
  <p:cm authorId="0" idx="4" dt="2022-07-03T09:04:13.828">
    <p:pos x="6000" y="0"/>
    <p:text>System diagram</p:text>
  </p:cm>
  <p:cm authorId="0" idx="5" dt="2022-07-03T15:59:53.555">
    <p:pos x="6000" y="0"/>
    <p:text>Laptop ko specifications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2-07-02T12:10:24.510">
    <p:pos x="0" y="0"/>
    <p:text>languages used, gantt chart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30a2a5db65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130a2a5db65_2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130a2a5db65_2_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0a2a5db65_2_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130a2a5db65_2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0a2a5db65_2_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130a2a5db65_2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3b1462634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13b14626349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3b14626349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13b14626349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30a2a5db65_2_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130a2a5db65_2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30a2a5db65_2_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130a2a5db65_2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30a2a5db65_2_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130a2a5db65_2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3b0a6691c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3b0a6691c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30a2a5db65_2_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130a2a5db65_2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0a2a5db65_2_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130a2a5db65_2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30a2a5db65_2_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130a2a5db65_2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3b0a6691c4_15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13b0a6691c4_15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3b0a6691c4_1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13b0a6691c4_1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3b0a6691c4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3b0a6691c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30a2a5db65_2_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130a2a5db65_2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755650" y="0"/>
            <a:ext cx="5950761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706411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type="ctrTitle"/>
          </p:nvPr>
        </p:nvSpPr>
        <p:spPr>
          <a:xfrm>
            <a:off x="1958856" y="2571749"/>
            <a:ext cx="4138550" cy="17014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079206" y="1701589"/>
            <a:ext cx="4018200" cy="87016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0">
            <a:normAutofit/>
          </a:bodyPr>
          <a:lstStyle>
            <a:lvl1pPr lvl="0" algn="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0" sz="140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2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118805" y="123444"/>
            <a:ext cx="477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1643461" y="2447139"/>
            <a:ext cx="311727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b="0" i="0" sz="18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1958856" y="606042"/>
            <a:ext cx="5968748" cy="807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2080199" y="1539087"/>
            <a:ext cx="5847405" cy="2998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/>
            </a:lvl1pPr>
            <a:lvl2pPr indent="-3048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1646207" y="480919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1643882" y="2221939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1957405" y="2360441"/>
            <a:ext cx="5967420" cy="1068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2080476" y="1701590"/>
            <a:ext cx="5843948" cy="65885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0">
            <a:normAutofit/>
          </a:bodyPr>
          <a:lstStyle>
            <a:lvl1pPr indent="-228600" lvl="0" marL="457200" algn="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1957405" y="604363"/>
            <a:ext cx="5963238" cy="8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1954030" y="1539087"/>
            <a:ext cx="2918970" cy="29983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/>
            </a:lvl1pPr>
            <a:lvl2pPr indent="-3048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2" type="body"/>
          </p:nvPr>
        </p:nvSpPr>
        <p:spPr>
          <a:xfrm>
            <a:off x="4999977" y="1539086"/>
            <a:ext cx="2920666" cy="29983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/>
            </a:lvl1pPr>
            <a:lvl2pPr indent="-3048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1647129" y="480917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1645238" y="477318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1957405" y="604364"/>
            <a:ext cx="5967420" cy="8087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1956964" y="1539086"/>
            <a:ext cx="2922350" cy="53536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0" sz="1700" cap="none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b="1" sz="1200"/>
            </a:lvl9pPr>
          </a:lstStyle>
          <a:p/>
        </p:txBody>
      </p:sp>
      <p:sp>
        <p:nvSpPr>
          <p:cNvPr id="109" name="Google Shape;109;p19"/>
          <p:cNvSpPr txBox="1"/>
          <p:nvPr>
            <p:ph idx="2" type="body"/>
          </p:nvPr>
        </p:nvSpPr>
        <p:spPr>
          <a:xfrm>
            <a:off x="1956964" y="2138498"/>
            <a:ext cx="2920217" cy="23035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/>
            </a:lvl1pPr>
            <a:lvl2pPr indent="-3048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3" type="body"/>
          </p:nvPr>
        </p:nvSpPr>
        <p:spPr>
          <a:xfrm>
            <a:off x="4999975" y="1539086"/>
            <a:ext cx="2924849" cy="53536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0" sz="1700" cap="none">
                <a:solidFill>
                  <a:schemeClr val="accent6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b="1" sz="1200"/>
            </a:lvl9pPr>
          </a:lstStyle>
          <a:p/>
        </p:txBody>
      </p:sp>
      <p:sp>
        <p:nvSpPr>
          <p:cNvPr id="111" name="Google Shape;111;p19"/>
          <p:cNvSpPr txBox="1"/>
          <p:nvPr>
            <p:ph idx="4" type="body"/>
          </p:nvPr>
        </p:nvSpPr>
        <p:spPr>
          <a:xfrm>
            <a:off x="4999976" y="2138498"/>
            <a:ext cx="2924849" cy="23035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/>
            </a:lvl1pPr>
            <a:lvl2pPr indent="-3048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type="title"/>
          </p:nvPr>
        </p:nvSpPr>
        <p:spPr>
          <a:xfrm>
            <a:off x="1958856" y="606042"/>
            <a:ext cx="5968748" cy="807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1647129" y="480920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1165616" y="845663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1477742" y="961838"/>
            <a:ext cx="1998271" cy="142743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840116" y="604364"/>
            <a:ext cx="4084708" cy="3933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/>
            </a:lvl1pPr>
            <a:lvl2pPr indent="-3048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2" type="body"/>
          </p:nvPr>
        </p:nvSpPr>
        <p:spPr>
          <a:xfrm>
            <a:off x="1477742" y="2389616"/>
            <a:ext cx="1998271" cy="17897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800"/>
            </a:lvl9pPr>
          </a:lstStyle>
          <a:p/>
        </p:txBody>
      </p:sp>
      <p:sp>
        <p:nvSpPr>
          <p:cNvPr id="130" name="Google Shape;130;p21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>
            <p:ph idx="2" type="pic"/>
          </p:nvPr>
        </p:nvSpPr>
        <p:spPr>
          <a:xfrm>
            <a:off x="5060297" y="2422"/>
            <a:ext cx="3472301" cy="5143500"/>
          </a:xfrm>
          <a:prstGeom prst="rect">
            <a:avLst/>
          </a:prstGeom>
          <a:solidFill>
            <a:schemeClr val="lt1">
              <a:alpha val="9803"/>
            </a:schemeClr>
          </a:solidFill>
          <a:ln>
            <a:noFill/>
          </a:ln>
        </p:spPr>
      </p:sp>
      <p:sp>
        <p:nvSpPr>
          <p:cNvPr id="137" name="Google Shape;137;p22"/>
          <p:cNvSpPr txBox="1"/>
          <p:nvPr/>
        </p:nvSpPr>
        <p:spPr>
          <a:xfrm>
            <a:off x="1166015" y="845663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1478431" y="961839"/>
            <a:ext cx="2978240" cy="142535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477741" y="2387196"/>
            <a:ext cx="2978906" cy="17897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5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11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8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1645677" y="480919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1958856" y="606042"/>
            <a:ext cx="5965568" cy="807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 rot="5400000">
            <a:off x="3504716" y="114570"/>
            <a:ext cx="2998371" cy="58474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/>
            </a:lvl1pPr>
            <a:lvl2pPr indent="-3048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dk2">
              <a:alpha val="91764"/>
            </a:scheme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 rot="5400000">
            <a:off x="7752856" y="312046"/>
            <a:ext cx="311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◤</a:t>
            </a:r>
            <a:endParaRPr sz="8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 rot="5400000">
            <a:off x="5460432" y="2073466"/>
            <a:ext cx="3933095" cy="9948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 rot="5400000">
            <a:off x="2476827" y="207544"/>
            <a:ext cx="3809651" cy="48501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/>
            </a:lvl1pPr>
            <a:lvl2pPr indent="-3048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5pPr>
            <a:lvl6pPr indent="-3048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6pPr>
            <a:lvl7pPr indent="-3048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7pPr>
            <a:lvl8pPr indent="-3048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8pPr>
            <a:lvl9pPr indent="-304800" lvl="8" marL="411480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SzPts val="1200"/>
              <a:buChar char="▪"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.jpg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23846" y="1578902"/>
            <a:ext cx="7020154" cy="35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2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/>
          <p:nvPr/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1958856" y="606042"/>
            <a:ext cx="5968748" cy="807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2080199" y="1539087"/>
            <a:ext cx="5847405" cy="29983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Noto Sans Symbols"/>
              <a:buChar char="▪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oto Sans Symbols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Noto Sans Symbols"/>
              <a:buChar char="▪"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SzPts val="800"/>
              <a:buFont typeface="Noto Sans Symbols"/>
              <a:buChar char="▪"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13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 rot="5400000">
            <a:off x="-1677847" y="2745858"/>
            <a:ext cx="4414014" cy="134382"/>
          </a:xfrm>
          <a:prstGeom prst="rect">
            <a:avLst/>
          </a:prstGeom>
          <a:noFill/>
          <a:ln>
            <a:noFill/>
          </a:ln>
        </p:spPr>
        <p:txBody>
          <a:bodyPr anchorCtr="0" anchor="b" bIns="13700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118805" y="123444"/>
            <a:ext cx="477545" cy="242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342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21532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.xml"/><Relationship Id="rId4" Type="http://schemas.openxmlformats.org/officeDocument/2006/relationships/image" Target="../media/image4.jp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2.xml"/><Relationship Id="rId4" Type="http://schemas.openxmlformats.org/officeDocument/2006/relationships/image" Target="../media/image4.jp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3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166" name="Google Shape;166;p25"/>
          <p:cNvPicPr preferRelativeResize="0"/>
          <p:nvPr/>
        </p:nvPicPr>
        <p:blipFill rotWithShape="1">
          <a:blip r:embed="rId3">
            <a:alphaModFix/>
          </a:blip>
          <a:srcRect b="-1" l="13265" r="3502" t="9091"/>
          <a:stretch/>
        </p:blipFill>
        <p:spPr>
          <a:xfrm>
            <a:off x="6658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/>
          <p:nvPr>
            <p:ph idx="1" type="subTitle"/>
          </p:nvPr>
        </p:nvSpPr>
        <p:spPr>
          <a:xfrm>
            <a:off x="462375" y="434600"/>
            <a:ext cx="8237400" cy="1984800"/>
          </a:xfrm>
          <a:prstGeom prst="rect">
            <a:avLst/>
          </a:prstGeom>
          <a:gradFill>
            <a:gsLst>
              <a:gs pos="0">
                <a:srgbClr val="E1EEF4">
                  <a:alpha val="87843"/>
                </a:srgbClr>
              </a:gs>
              <a:gs pos="100000">
                <a:srgbClr val="89C4DE">
                  <a:alpha val="91764"/>
                </a:srgbClr>
              </a:gs>
            </a:gsLst>
            <a:lin ang="5400700" scaled="0"/>
          </a:gradFill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34275" lIns="68575" spcFirstLastPara="1" rIns="68575" wrap="square" tIns="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4100"/>
              <a:buNone/>
            </a:pPr>
            <a:r>
              <a:t/>
            </a:r>
            <a:endParaRPr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4100"/>
              <a:buNone/>
            </a:pPr>
            <a:r>
              <a:t/>
            </a:r>
            <a:endParaRPr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4100"/>
              <a:buNone/>
            </a:pPr>
            <a:r>
              <a:t/>
            </a:r>
            <a:endParaRPr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4100"/>
              <a:buNone/>
            </a:pPr>
            <a:r>
              <a:t/>
            </a:r>
            <a:endParaRPr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4100"/>
              <a:buNone/>
            </a:pPr>
            <a:r>
              <a:rPr lang="en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 Presentation </a:t>
            </a:r>
            <a:r>
              <a:rPr lang="en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r>
              <a:rPr lang="en" sz="4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4100"/>
              <a:buNone/>
            </a:pPr>
            <a:r>
              <a:rPr lang="en" sz="4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InfoSprout</a:t>
            </a:r>
            <a:endParaRPr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“ A digital way of generating a birth certificate”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3179900" y="2971800"/>
            <a:ext cx="2535000" cy="16116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Nabina Budha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Preeti Acharya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Melina Giri</a:t>
            </a:r>
            <a:endParaRPr sz="18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Suraj Kumar Chaudhary</a:t>
            </a:r>
            <a:endParaRPr sz="1800"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4104080" y="4775469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932155" y="506026"/>
            <a:ext cx="7457243" cy="712433"/>
          </a:xfrm>
          <a:prstGeom prst="rect">
            <a:avLst/>
          </a:prstGeom>
          <a:solidFill>
            <a:srgbClr val="7A4F11"/>
          </a:solidFill>
          <a:ln cap="flat" cmpd="sng" w="15875">
            <a:solidFill>
              <a:srgbClr val="387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gital Connections" id="175" name="Google Shape;175;p26"/>
          <p:cNvPicPr preferRelativeResize="0"/>
          <p:nvPr/>
        </p:nvPicPr>
        <p:blipFill rotWithShape="1">
          <a:blip r:embed="rId3">
            <a:alphaModFix/>
          </a:blip>
          <a:srcRect b="-1" l="13265" r="3502" t="9091"/>
          <a:stretch/>
        </p:blipFill>
        <p:spPr>
          <a:xfrm>
            <a:off x="6658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/>
          <p:nvPr/>
        </p:nvSpPr>
        <p:spPr>
          <a:xfrm>
            <a:off x="812306" y="379963"/>
            <a:ext cx="7656992" cy="665383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(1) </a:t>
            </a:r>
            <a:endParaRPr sz="1100"/>
          </a:p>
        </p:txBody>
      </p:sp>
      <p:sp>
        <p:nvSpPr>
          <p:cNvPr id="177" name="Google Shape;177;p26"/>
          <p:cNvSpPr/>
          <p:nvPr/>
        </p:nvSpPr>
        <p:spPr>
          <a:xfrm>
            <a:off x="812300" y="1218449"/>
            <a:ext cx="7656900" cy="3545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A birth certifi</a:t>
            </a:r>
            <a:r>
              <a:rPr lang="en" sz="2200">
                <a:solidFill>
                  <a:schemeClr val="dk1"/>
                </a:solidFill>
              </a:rPr>
              <a:t>cate confirms child’s nationality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It includes place of birth, parentage, and age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Validity: forever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Processing time: not more than some hours.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" sz="2200">
                <a:solidFill>
                  <a:schemeClr val="dk1"/>
                </a:solidFill>
              </a:rPr>
              <a:t>InfoSprout </a:t>
            </a:r>
            <a:r>
              <a:rPr lang="en" sz="2200">
                <a:solidFill>
                  <a:schemeClr val="dk1"/>
                </a:solidFill>
              </a:rPr>
              <a:t> is a web-based birth registration system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" sz="2200">
                <a:solidFill>
                  <a:schemeClr val="dk1"/>
                </a:solidFill>
              </a:rPr>
              <a:t>Speed</a:t>
            </a:r>
            <a:r>
              <a:rPr b="1" lang="en" sz="2200">
                <a:solidFill>
                  <a:schemeClr val="dk1"/>
                </a:solidFill>
              </a:rPr>
              <a:t>s, </a:t>
            </a:r>
            <a:r>
              <a:rPr b="1" lang="en" sz="2200">
                <a:solidFill>
                  <a:schemeClr val="dk1"/>
                </a:solidFill>
              </a:rPr>
              <a:t>reduces the cost </a:t>
            </a:r>
            <a:r>
              <a:rPr lang="en" sz="2200">
                <a:solidFill>
                  <a:schemeClr val="dk1"/>
                </a:solidFill>
              </a:rPr>
              <a:t>of registration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" sz="2200">
                <a:solidFill>
                  <a:schemeClr val="dk1"/>
                </a:solidFill>
              </a:rPr>
              <a:t>Keeps registration details for future use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4170605" y="4836719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183" name="Google Shape;183;p27"/>
          <p:cNvPicPr preferRelativeResize="0"/>
          <p:nvPr/>
        </p:nvPicPr>
        <p:blipFill rotWithShape="1">
          <a:blip r:embed="rId3">
            <a:alphaModFix/>
          </a:blip>
          <a:srcRect b="-1" l="13265" r="3502" t="9091"/>
          <a:stretch/>
        </p:blipFill>
        <p:spPr>
          <a:xfrm>
            <a:off x="6658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3974605" y="4829094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  <p:sp>
        <p:nvSpPr>
          <p:cNvPr id="185" name="Google Shape;185;p27"/>
          <p:cNvSpPr/>
          <p:nvPr/>
        </p:nvSpPr>
        <p:spPr>
          <a:xfrm>
            <a:off x="812306" y="379963"/>
            <a:ext cx="7656900" cy="6654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(2)</a:t>
            </a:r>
            <a:endParaRPr sz="1100"/>
          </a:p>
        </p:txBody>
      </p:sp>
      <p:sp>
        <p:nvSpPr>
          <p:cNvPr id="186" name="Google Shape;186;p27"/>
          <p:cNvSpPr/>
          <p:nvPr/>
        </p:nvSpPr>
        <p:spPr>
          <a:xfrm>
            <a:off x="3768567" y="1218461"/>
            <a:ext cx="4958100" cy="35016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General Workflow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User apply with personal information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“Sachiv” prepare the document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800">
                <a:solidFill>
                  <a:schemeClr val="dk1"/>
                </a:solidFill>
              </a:rPr>
              <a:t>“President” verify / sign the document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Sachiv issue the document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7" name="Google Shape;187;p27"/>
          <p:cNvPicPr preferRelativeResize="0"/>
          <p:nvPr/>
        </p:nvPicPr>
        <p:blipFill rotWithShape="1">
          <a:blip r:embed="rId4">
            <a:alphaModFix/>
          </a:blip>
          <a:srcRect b="8659" l="0" r="0" t="0"/>
          <a:stretch/>
        </p:blipFill>
        <p:spPr>
          <a:xfrm>
            <a:off x="574750" y="1514200"/>
            <a:ext cx="3288525" cy="28590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932156" y="506026"/>
            <a:ext cx="7457100" cy="712500"/>
          </a:xfrm>
          <a:prstGeom prst="rect">
            <a:avLst/>
          </a:prstGeom>
          <a:solidFill>
            <a:srgbClr val="7A4F11"/>
          </a:solidFill>
          <a:ln cap="flat" cmpd="sng" w="15875">
            <a:solidFill>
              <a:srgbClr val="387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gital Connections" id="193" name="Google Shape;193;p28"/>
          <p:cNvPicPr preferRelativeResize="0"/>
          <p:nvPr/>
        </p:nvPicPr>
        <p:blipFill rotWithShape="1">
          <a:blip r:embed="rId3">
            <a:alphaModFix/>
          </a:blip>
          <a:srcRect b="0" l="13268" r="3496" t="9091"/>
          <a:stretch/>
        </p:blipFill>
        <p:spPr>
          <a:xfrm>
            <a:off x="6658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/>
          <p:nvPr/>
        </p:nvSpPr>
        <p:spPr>
          <a:xfrm>
            <a:off x="812306" y="379963"/>
            <a:ext cx="7656900" cy="6654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(3) </a:t>
            </a:r>
            <a:endParaRPr sz="1100"/>
          </a:p>
        </p:txBody>
      </p:sp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4170605" y="4836719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  <p:sp>
        <p:nvSpPr>
          <p:cNvPr id="196" name="Google Shape;196;p28"/>
          <p:cNvSpPr/>
          <p:nvPr/>
        </p:nvSpPr>
        <p:spPr>
          <a:xfrm>
            <a:off x="555600" y="1475125"/>
            <a:ext cx="4016400" cy="3169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>
                <a:solidFill>
                  <a:schemeClr val="dk1"/>
                </a:solidFill>
              </a:rPr>
              <a:t>Documents needed</a:t>
            </a:r>
            <a:endParaRPr sz="1700" u="sng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Documents regarding the birth of a child from Hospital 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(else documents of witness)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Birth time, date, and place.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Marriage certificate of parents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Citizenship Card of parents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Migration Certificate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Proof of Birth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4872150" y="1475125"/>
            <a:ext cx="3819900" cy="3169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 u="sng">
                <a:solidFill>
                  <a:schemeClr val="dk1"/>
                </a:solidFill>
              </a:rPr>
              <a:t>Required References</a:t>
            </a:r>
            <a:endParaRPr sz="1700" u="sng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Father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Mother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Family Head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Uncles and Brothers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Ward Sachiv 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(if he/s is willing to provide a letter with the proof or witness of a child being born in that ward)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/>
          <p:nvPr/>
        </p:nvSpPr>
        <p:spPr>
          <a:xfrm>
            <a:off x="932156" y="506026"/>
            <a:ext cx="7457100" cy="712500"/>
          </a:xfrm>
          <a:prstGeom prst="rect">
            <a:avLst/>
          </a:prstGeom>
          <a:solidFill>
            <a:srgbClr val="7A4F11"/>
          </a:solidFill>
          <a:ln cap="flat" cmpd="sng" w="15875">
            <a:solidFill>
              <a:srgbClr val="387E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gital Connections" id="203" name="Google Shape;203;p29"/>
          <p:cNvPicPr preferRelativeResize="0"/>
          <p:nvPr/>
        </p:nvPicPr>
        <p:blipFill rotWithShape="1">
          <a:blip r:embed="rId3">
            <a:alphaModFix/>
          </a:blip>
          <a:srcRect b="0" l="13268" r="3496" t="9091"/>
          <a:stretch/>
        </p:blipFill>
        <p:spPr>
          <a:xfrm>
            <a:off x="6658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9"/>
          <p:cNvSpPr/>
          <p:nvPr/>
        </p:nvSpPr>
        <p:spPr>
          <a:xfrm>
            <a:off x="812306" y="379963"/>
            <a:ext cx="7656900" cy="6654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(4) </a:t>
            </a:r>
            <a:endParaRPr sz="1100"/>
          </a:p>
        </p:txBody>
      </p:sp>
      <p:sp>
        <p:nvSpPr>
          <p:cNvPr id="205" name="Google Shape;205;p29"/>
          <p:cNvSpPr/>
          <p:nvPr/>
        </p:nvSpPr>
        <p:spPr>
          <a:xfrm>
            <a:off x="812300" y="1218449"/>
            <a:ext cx="7656900" cy="3545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Case 1: Normal case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Case 2: Father being Foreigner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Case 3: Single Mother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Case 4: Orphan Case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District main (</a:t>
            </a:r>
            <a:r>
              <a:rPr lang="en" sz="1800">
                <a:solidFill>
                  <a:schemeClr val="dk1"/>
                </a:solidFill>
              </a:rPr>
              <a:t>nagar palika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adhyaksha</a:t>
            </a:r>
            <a:r>
              <a:rPr lang="en" sz="1800">
                <a:solidFill>
                  <a:schemeClr val="dk1"/>
                </a:solidFill>
              </a:rPr>
              <a:t>)-&gt; head of the family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Case 5: Loss of Migration Certificate</a:t>
            </a:r>
            <a:endParaRPr b="1"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Make the transmigration certificate -&gt; from the current place/parental place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Case 6: Loss of Documents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Get the letter of approval from the ward head 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proof of the existing documents through an image.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4170605" y="4836719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211" name="Google Shape;211;p30"/>
          <p:cNvPicPr preferRelativeResize="0"/>
          <p:nvPr/>
        </p:nvPicPr>
        <p:blipFill rotWithShape="1">
          <a:blip r:embed="rId3">
            <a:alphaModFix/>
          </a:blip>
          <a:srcRect b="-1" l="13265" r="3502" t="9091"/>
          <a:stretch/>
        </p:blipFill>
        <p:spPr>
          <a:xfrm>
            <a:off x="0" y="-21106"/>
            <a:ext cx="9181519" cy="516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/>
          <p:nvPr/>
        </p:nvSpPr>
        <p:spPr>
          <a:xfrm>
            <a:off x="714966" y="383651"/>
            <a:ext cx="7590300" cy="623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100"/>
          </a:p>
        </p:txBody>
      </p:sp>
      <p:sp>
        <p:nvSpPr>
          <p:cNvPr id="213" name="Google Shape;213;p30"/>
          <p:cNvSpPr/>
          <p:nvPr/>
        </p:nvSpPr>
        <p:spPr>
          <a:xfrm>
            <a:off x="587225" y="1218700"/>
            <a:ext cx="7845900" cy="3307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735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Long processing time 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R</a:t>
            </a:r>
            <a:r>
              <a:rPr lang="en" sz="2500">
                <a:solidFill>
                  <a:schemeClr val="dk1"/>
                </a:solidFill>
              </a:rPr>
              <a:t>edundancy</a:t>
            </a:r>
            <a:r>
              <a:rPr lang="en" sz="2500">
                <a:solidFill>
                  <a:schemeClr val="dk1"/>
                </a:solidFill>
              </a:rPr>
              <a:t> and inconsistencies of data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Authority misuse, inaccessibility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Data can be lost or stolen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 sz="2500">
                <a:solidFill>
                  <a:schemeClr val="dk1"/>
                </a:solidFill>
              </a:rPr>
              <a:t>Data can’t be reused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14" name="Google Shape;214;p30"/>
          <p:cNvSpPr txBox="1"/>
          <p:nvPr>
            <p:ph idx="12" type="sldNum"/>
          </p:nvPr>
        </p:nvSpPr>
        <p:spPr>
          <a:xfrm>
            <a:off x="4199075" y="4738124"/>
            <a:ext cx="477600" cy="2043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219" name="Google Shape;219;p31"/>
          <p:cNvPicPr preferRelativeResize="0"/>
          <p:nvPr/>
        </p:nvPicPr>
        <p:blipFill rotWithShape="1">
          <a:blip r:embed="rId3">
            <a:alphaModFix/>
          </a:blip>
          <a:srcRect b="-1" l="13265" r="3502" t="9091"/>
          <a:stretch/>
        </p:blipFill>
        <p:spPr>
          <a:xfrm>
            <a:off x="-12031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/>
          <p:nvPr/>
        </p:nvSpPr>
        <p:spPr>
          <a:xfrm>
            <a:off x="786413" y="154619"/>
            <a:ext cx="7677000" cy="546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100"/>
          </a:p>
        </p:txBody>
      </p:sp>
      <p:sp>
        <p:nvSpPr>
          <p:cNvPr id="221" name="Google Shape;221;p31"/>
          <p:cNvSpPr/>
          <p:nvPr/>
        </p:nvSpPr>
        <p:spPr>
          <a:xfrm flipH="1">
            <a:off x="1184963" y="961324"/>
            <a:ext cx="6879900" cy="3576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9250" lvl="0" marL="457200" marR="0" rtl="0" algn="just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and Implement an online database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access to a centralized database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Automatically stores &amp; retrieves data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 paperwork for Birth Application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ecovery, reuse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 and cheap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1"/>
          <p:cNvSpPr txBox="1"/>
          <p:nvPr>
            <p:ph idx="12" type="sldNum"/>
          </p:nvPr>
        </p:nvSpPr>
        <p:spPr>
          <a:xfrm>
            <a:off x="4214555" y="4798319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227" name="Google Shape;227;p32"/>
          <p:cNvPicPr preferRelativeResize="0"/>
          <p:nvPr/>
        </p:nvPicPr>
        <p:blipFill rotWithShape="1">
          <a:blip r:embed="rId3">
            <a:alphaModFix/>
          </a:blip>
          <a:srcRect b="-1" l="13265" r="3502" t="9091"/>
          <a:stretch/>
        </p:blipFill>
        <p:spPr>
          <a:xfrm>
            <a:off x="3" y="-40600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/>
          <p:nvPr/>
        </p:nvSpPr>
        <p:spPr>
          <a:xfrm>
            <a:off x="563732" y="306901"/>
            <a:ext cx="7843500" cy="6057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OF THE STUDY</a:t>
            </a:r>
            <a:endParaRPr sz="1100"/>
          </a:p>
        </p:txBody>
      </p:sp>
      <p:sp>
        <p:nvSpPr>
          <p:cNvPr id="229" name="Google Shape;229;p32"/>
          <p:cNvSpPr/>
          <p:nvPr/>
        </p:nvSpPr>
        <p:spPr>
          <a:xfrm>
            <a:off x="747850" y="1295400"/>
            <a:ext cx="7583100" cy="32919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Proffer solutions to current backdrops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Fostering a more effective and efficient data collection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Storage, processing, and retrieval method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Means for nation planning and population forecasting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2"/>
          <p:cNvSpPr txBox="1"/>
          <p:nvPr>
            <p:ph idx="12" type="sldNum"/>
          </p:nvPr>
        </p:nvSpPr>
        <p:spPr>
          <a:xfrm>
            <a:off x="4184080" y="4794894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idx="12" type="sldNum"/>
          </p:nvPr>
        </p:nvSpPr>
        <p:spPr>
          <a:xfrm>
            <a:off x="118805" y="123444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Digital Connections" id="236" name="Google Shape;236;p33"/>
          <p:cNvPicPr preferRelativeResize="0"/>
          <p:nvPr/>
        </p:nvPicPr>
        <p:blipFill rotWithShape="1">
          <a:blip r:embed="rId3">
            <a:alphaModFix/>
          </a:blip>
          <a:srcRect b="0" l="13268" r="3496" t="9091"/>
          <a:stretch/>
        </p:blipFill>
        <p:spPr>
          <a:xfrm>
            <a:off x="0" y="45733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/>
          <p:nvPr/>
        </p:nvSpPr>
        <p:spPr>
          <a:xfrm>
            <a:off x="821924" y="397380"/>
            <a:ext cx="7477500" cy="6747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REVIEW</a:t>
            </a:r>
            <a:endParaRPr sz="1100"/>
          </a:p>
        </p:txBody>
      </p:sp>
      <p:sp>
        <p:nvSpPr>
          <p:cNvPr id="238" name="Google Shape;238;p33"/>
          <p:cNvSpPr/>
          <p:nvPr/>
        </p:nvSpPr>
        <p:spPr>
          <a:xfrm>
            <a:off x="697350" y="1346900"/>
            <a:ext cx="7782300" cy="32949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1900">
                <a:solidFill>
                  <a:schemeClr val="dk1"/>
                </a:solidFill>
              </a:rPr>
              <a:t>Nagarik App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Social Security Fund 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1555"/>
              </a:spcBef>
              <a:spcAft>
                <a:spcPts val="1555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dk1"/>
                </a:solidFill>
              </a:rPr>
              <a:t>DoNIDCR (Department of National ID and Civil Registration)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4427225" y="4709150"/>
            <a:ext cx="57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</a:rPr>
              <a:t>7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244" name="Google Shape;244;p34"/>
          <p:cNvPicPr preferRelativeResize="0"/>
          <p:nvPr/>
        </p:nvPicPr>
        <p:blipFill rotWithShape="1">
          <a:blip r:embed="rId3">
            <a:alphaModFix/>
          </a:blip>
          <a:srcRect b="-1" l="13265" r="3502" t="9091"/>
          <a:stretch/>
        </p:blipFill>
        <p:spPr>
          <a:xfrm>
            <a:off x="15" y="0"/>
            <a:ext cx="9143985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4"/>
          <p:cNvSpPr/>
          <p:nvPr/>
        </p:nvSpPr>
        <p:spPr>
          <a:xfrm>
            <a:off x="949170" y="448655"/>
            <a:ext cx="7310700" cy="5832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100"/>
          </a:p>
        </p:txBody>
      </p:sp>
      <p:sp>
        <p:nvSpPr>
          <p:cNvPr id="246" name="Google Shape;246;p34"/>
          <p:cNvSpPr/>
          <p:nvPr/>
        </p:nvSpPr>
        <p:spPr>
          <a:xfrm>
            <a:off x="949175" y="1391876"/>
            <a:ext cx="7310700" cy="2974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Process Model: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Incremental model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increment is always a core product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 each increments, new features are added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continues until the complete system is achieved.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phases of this model are: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Analysis, Design, Coding and Testing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" name="Google Shape;247;p34"/>
          <p:cNvSpPr txBox="1"/>
          <p:nvPr>
            <p:ph idx="12" type="sldNum"/>
          </p:nvPr>
        </p:nvSpPr>
        <p:spPr>
          <a:xfrm>
            <a:off x="4180250" y="4726700"/>
            <a:ext cx="5100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252" name="Google Shape;252;p35"/>
          <p:cNvPicPr preferRelativeResize="0"/>
          <p:nvPr/>
        </p:nvPicPr>
        <p:blipFill rotWithShape="1">
          <a:blip r:embed="rId3">
            <a:alphaModFix/>
          </a:blip>
          <a:srcRect b="-1" l="13265" r="3502" t="9091"/>
          <a:stretch/>
        </p:blipFill>
        <p:spPr>
          <a:xfrm>
            <a:off x="6658" y="0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5"/>
          <p:cNvSpPr txBox="1"/>
          <p:nvPr>
            <p:ph idx="12" type="sldNum"/>
          </p:nvPr>
        </p:nvSpPr>
        <p:spPr>
          <a:xfrm>
            <a:off x="4203130" y="4760194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  <p:sp>
        <p:nvSpPr>
          <p:cNvPr id="254" name="Google Shape;254;p35"/>
          <p:cNvSpPr/>
          <p:nvPr/>
        </p:nvSpPr>
        <p:spPr>
          <a:xfrm>
            <a:off x="1025370" y="448655"/>
            <a:ext cx="7310700" cy="5832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PROCESS MODEL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5"/>
          <p:cNvSpPr/>
          <p:nvPr/>
        </p:nvSpPr>
        <p:spPr>
          <a:xfrm>
            <a:off x="73325" y="1440050"/>
            <a:ext cx="9062400" cy="2873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56" name="Google Shape;25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" y="1688825"/>
            <a:ext cx="9062400" cy="22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261" name="Google Shape;261;p36"/>
          <p:cNvPicPr preferRelativeResize="0"/>
          <p:nvPr/>
        </p:nvPicPr>
        <p:blipFill rotWithShape="1">
          <a:blip r:embed="rId4">
            <a:alphaModFix/>
          </a:blip>
          <a:srcRect b="-1" l="13265" r="3502" t="9091"/>
          <a:stretch/>
        </p:blipFill>
        <p:spPr>
          <a:xfrm>
            <a:off x="0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6"/>
          <p:cNvSpPr/>
          <p:nvPr/>
        </p:nvSpPr>
        <p:spPr>
          <a:xfrm rot="-5358968">
            <a:off x="-1665305" y="2054310"/>
            <a:ext cx="4524322" cy="674449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USE-CASE DIAGRAM</a:t>
            </a:r>
            <a:endParaRPr sz="900"/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4268830" y="4794569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  <p:sp>
        <p:nvSpPr>
          <p:cNvPr id="264" name="Google Shape;264;p36"/>
          <p:cNvSpPr/>
          <p:nvPr/>
        </p:nvSpPr>
        <p:spPr>
          <a:xfrm>
            <a:off x="1070900" y="50000"/>
            <a:ext cx="7677300" cy="4681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65" name="Google Shape;26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8900" y="154200"/>
            <a:ext cx="6192246" cy="44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270" name="Google Shape;270;p37"/>
          <p:cNvPicPr preferRelativeResize="0"/>
          <p:nvPr/>
        </p:nvPicPr>
        <p:blipFill rotWithShape="1">
          <a:blip r:embed="rId4">
            <a:alphaModFix/>
          </a:blip>
          <a:srcRect b="0" l="13268" r="3496" t="9091"/>
          <a:stretch/>
        </p:blipFill>
        <p:spPr>
          <a:xfrm>
            <a:off x="0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7"/>
          <p:cNvSpPr/>
          <p:nvPr/>
        </p:nvSpPr>
        <p:spPr>
          <a:xfrm>
            <a:off x="745724" y="397380"/>
            <a:ext cx="7477500" cy="6747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TOOLS</a:t>
            </a:r>
            <a:endParaRPr sz="1100"/>
          </a:p>
        </p:txBody>
      </p:sp>
      <p:sp>
        <p:nvSpPr>
          <p:cNvPr id="272" name="Google Shape;272;p37"/>
          <p:cNvSpPr/>
          <p:nvPr/>
        </p:nvSpPr>
        <p:spPr>
          <a:xfrm>
            <a:off x="555600" y="1475125"/>
            <a:ext cx="3777600" cy="2800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Tools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Laptop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7"/>
          <p:cNvSpPr txBox="1"/>
          <p:nvPr>
            <p:ph idx="12" type="sldNum"/>
          </p:nvPr>
        </p:nvSpPr>
        <p:spPr>
          <a:xfrm>
            <a:off x="4333205" y="4678644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  <p:sp>
        <p:nvSpPr>
          <p:cNvPr id="274" name="Google Shape;274;p37"/>
          <p:cNvSpPr/>
          <p:nvPr/>
        </p:nvSpPr>
        <p:spPr>
          <a:xfrm rot="266">
            <a:off x="4744875" y="1455725"/>
            <a:ext cx="3871200" cy="2800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Tools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Html , css , js, Bootstrap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php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Mysql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9095" y="2719295"/>
            <a:ext cx="1481600" cy="9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280" name="Google Shape;280;p38"/>
          <p:cNvPicPr preferRelativeResize="0"/>
          <p:nvPr/>
        </p:nvPicPr>
        <p:blipFill rotWithShape="1">
          <a:blip r:embed="rId3">
            <a:alphaModFix/>
          </a:blip>
          <a:srcRect b="0" l="13268" r="3496" t="9091"/>
          <a:stretch/>
        </p:blipFill>
        <p:spPr>
          <a:xfrm>
            <a:off x="0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8"/>
          <p:cNvSpPr/>
          <p:nvPr/>
        </p:nvSpPr>
        <p:spPr>
          <a:xfrm>
            <a:off x="745724" y="397380"/>
            <a:ext cx="7477500" cy="6747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 sz="1100"/>
          </a:p>
        </p:txBody>
      </p:sp>
      <p:sp>
        <p:nvSpPr>
          <p:cNvPr id="282" name="Google Shape;282;p38"/>
          <p:cNvSpPr/>
          <p:nvPr/>
        </p:nvSpPr>
        <p:spPr>
          <a:xfrm>
            <a:off x="621150" y="1485900"/>
            <a:ext cx="7782300" cy="2800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acilitates the easy presentation and report to birth monitoring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database can store, process, retrieve record, and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Flexible: adjust based on changing requirements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 of real-time data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8"/>
          <p:cNvSpPr txBox="1"/>
          <p:nvPr>
            <p:ph idx="12" type="sldNum"/>
          </p:nvPr>
        </p:nvSpPr>
        <p:spPr>
          <a:xfrm>
            <a:off x="4333205" y="4678644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"/>
          <p:cNvSpPr txBox="1"/>
          <p:nvPr>
            <p:ph idx="12" type="sldNum"/>
          </p:nvPr>
        </p:nvSpPr>
        <p:spPr>
          <a:xfrm>
            <a:off x="118805" y="123444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Digital Connections" id="289" name="Google Shape;289;p39"/>
          <p:cNvPicPr preferRelativeResize="0"/>
          <p:nvPr/>
        </p:nvPicPr>
        <p:blipFill rotWithShape="1">
          <a:blip r:embed="rId3">
            <a:alphaModFix/>
          </a:blip>
          <a:srcRect b="0" l="13268" r="3496" t="9091"/>
          <a:stretch/>
        </p:blipFill>
        <p:spPr>
          <a:xfrm>
            <a:off x="0" y="8"/>
            <a:ext cx="9143988" cy="514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/>
          <p:nvPr/>
        </p:nvSpPr>
        <p:spPr>
          <a:xfrm>
            <a:off x="821924" y="168780"/>
            <a:ext cx="7477500" cy="6747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SCHEDULE</a:t>
            </a:r>
            <a:endParaRPr sz="1100"/>
          </a:p>
        </p:txBody>
      </p:sp>
      <p:sp>
        <p:nvSpPr>
          <p:cNvPr id="291" name="Google Shape;291;p39"/>
          <p:cNvSpPr txBox="1"/>
          <p:nvPr>
            <p:ph idx="12" type="sldNum"/>
          </p:nvPr>
        </p:nvSpPr>
        <p:spPr>
          <a:xfrm>
            <a:off x="4257005" y="4678644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  <p:sp>
        <p:nvSpPr>
          <p:cNvPr id="292" name="Google Shape;292;p39"/>
          <p:cNvSpPr txBox="1"/>
          <p:nvPr/>
        </p:nvSpPr>
        <p:spPr>
          <a:xfrm>
            <a:off x="4333210" y="2171548"/>
            <a:ext cx="161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entury Gothic"/>
                <a:ea typeface="Century Gothic"/>
                <a:cs typeface="Century Gothic"/>
                <a:sym typeface="Century Gothic"/>
              </a:rPr>
              <a:t>Testing and Debugging</a:t>
            </a:r>
            <a:endParaRPr b="1" sz="3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6252511" y="2171547"/>
            <a:ext cx="161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entury Gothic"/>
                <a:ea typeface="Century Gothic"/>
                <a:cs typeface="Century Gothic"/>
                <a:sym typeface="Century Gothic"/>
              </a:rPr>
              <a:t>Analysis</a:t>
            </a:r>
            <a:endParaRPr b="1"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39"/>
          <p:cNvSpPr txBox="1"/>
          <p:nvPr/>
        </p:nvSpPr>
        <p:spPr>
          <a:xfrm>
            <a:off x="6142327" y="3353763"/>
            <a:ext cx="161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entury Gothic"/>
                <a:ea typeface="Century Gothic"/>
                <a:cs typeface="Century Gothic"/>
                <a:sym typeface="Century Gothic"/>
              </a:rPr>
              <a:t>Design &amp; Frontend</a:t>
            </a:r>
            <a:endParaRPr b="1"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5" name="Google Shape;295;p39"/>
          <p:cNvSpPr txBox="1"/>
          <p:nvPr/>
        </p:nvSpPr>
        <p:spPr>
          <a:xfrm>
            <a:off x="4333201" y="3353763"/>
            <a:ext cx="161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entury Gothic"/>
                <a:ea typeface="Century Gothic"/>
                <a:cs typeface="Century Gothic"/>
                <a:sym typeface="Century Gothic"/>
              </a:rPr>
              <a:t>Backend &amp; Database</a:t>
            </a:r>
            <a:endParaRPr b="1"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6" name="Google Shape;296;p39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925" y="989725"/>
            <a:ext cx="7477500" cy="357068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9"/>
          <p:cNvSpPr txBox="1"/>
          <p:nvPr/>
        </p:nvSpPr>
        <p:spPr>
          <a:xfrm>
            <a:off x="3944800" y="1756125"/>
            <a:ext cx="151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Testing &amp; Debugging</a:t>
            </a:r>
            <a:endParaRPr b="1" sz="1900"/>
          </a:p>
        </p:txBody>
      </p:sp>
      <p:sp>
        <p:nvSpPr>
          <p:cNvPr id="298" name="Google Shape;298;p39"/>
          <p:cNvSpPr txBox="1"/>
          <p:nvPr/>
        </p:nvSpPr>
        <p:spPr>
          <a:xfrm>
            <a:off x="5933325" y="1908525"/>
            <a:ext cx="135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Analysis</a:t>
            </a:r>
            <a:endParaRPr b="1" sz="1900"/>
          </a:p>
        </p:txBody>
      </p:sp>
      <p:sp>
        <p:nvSpPr>
          <p:cNvPr id="299" name="Google Shape;299;p39"/>
          <p:cNvSpPr txBox="1"/>
          <p:nvPr/>
        </p:nvSpPr>
        <p:spPr>
          <a:xfrm>
            <a:off x="5933325" y="2746725"/>
            <a:ext cx="135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Design &amp; Frontend</a:t>
            </a:r>
            <a:endParaRPr b="1" sz="1900"/>
          </a:p>
        </p:txBody>
      </p:sp>
      <p:sp>
        <p:nvSpPr>
          <p:cNvPr id="300" name="Google Shape;300;p39"/>
          <p:cNvSpPr txBox="1"/>
          <p:nvPr/>
        </p:nvSpPr>
        <p:spPr>
          <a:xfrm>
            <a:off x="3922725" y="2746725"/>
            <a:ext cx="16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Backend &amp; Database</a:t>
            </a:r>
            <a:endParaRPr b="1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gital Connections" id="305" name="Google Shape;305;p40"/>
          <p:cNvPicPr preferRelativeResize="0"/>
          <p:nvPr/>
        </p:nvPicPr>
        <p:blipFill rotWithShape="1">
          <a:blip r:embed="rId4">
            <a:alphaModFix/>
          </a:blip>
          <a:srcRect b="-1" l="13265" r="3502" t="9091"/>
          <a:stretch/>
        </p:blipFill>
        <p:spPr>
          <a:xfrm>
            <a:off x="0" y="8"/>
            <a:ext cx="9143985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0"/>
          <p:cNvSpPr/>
          <p:nvPr/>
        </p:nvSpPr>
        <p:spPr>
          <a:xfrm>
            <a:off x="2883023" y="2072381"/>
            <a:ext cx="3129379" cy="998738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0329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100"/>
          </a:p>
        </p:txBody>
      </p:sp>
      <p:sp>
        <p:nvSpPr>
          <p:cNvPr id="307" name="Google Shape;307;p40"/>
          <p:cNvSpPr txBox="1"/>
          <p:nvPr>
            <p:ph idx="12" type="sldNum"/>
          </p:nvPr>
        </p:nvSpPr>
        <p:spPr>
          <a:xfrm>
            <a:off x="4257005" y="4743969"/>
            <a:ext cx="477600" cy="242100"/>
          </a:xfrm>
          <a:prstGeom prst="rect">
            <a:avLst/>
          </a:prstGeom>
        </p:spPr>
        <p:txBody>
          <a:bodyPr anchorCtr="0" anchor="ctr" bIns="34275" lIns="685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b="1" lang="en" sz="2200"/>
              <a:t>‹#›</a:t>
            </a:fld>
            <a:endParaRPr b="1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dison">
  <a:themeElements>
    <a:clrScheme name="Madison">
      <a:dk1>
        <a:srgbClr val="000000"/>
      </a:dk1>
      <a:lt1>
        <a:srgbClr val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